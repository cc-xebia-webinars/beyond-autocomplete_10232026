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4"/>
  </p:sldMasterIdLst>
  <p:notesMasterIdLst>
    <p:notesMasterId r:id="rId42"/>
  </p:notesMasterIdLst>
  <p:handoutMasterIdLst>
    <p:handoutMasterId r:id="rId43"/>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7E382B-9C36-7E49-84E8-BCE19F3983A8}">
          <p14:sldIdLst>
            <p14:sldId id="290"/>
          </p14:sldIdLst>
        </p14:section>
        <p14:section name="Best practices" id="{D9E1D182-6CB3-A340-86A3-096129157E2B}">
          <p14:sldIdLst>
            <p14:sldId id="287"/>
          </p14:sldIdLst>
        </p14:section>
        <p14:section name="Title slide" id="{6AB36275-C348-AC45-85CC-F165143366DA}">
          <p14:sldIdLst>
            <p14:sldId id="256"/>
            <p14:sldId id="257"/>
          </p14:sldIdLst>
        </p14:section>
        <p14:section name="Table of contents" id="{86CE6255-5E44-4749-A15C-64EEE2E9D874}">
          <p14:sldIdLst>
            <p14:sldId id="258"/>
            <p14:sldId id="259"/>
            <p14:sldId id="293"/>
          </p14:sldIdLst>
        </p14:section>
        <p14:section name="Speaker" id="{85A8668F-66EB-C54B-89FC-8F7FC62EE839}">
          <p14:sldIdLst>
            <p14:sldId id="260"/>
            <p14:sldId id="261"/>
          </p14:sldIdLst>
        </p14:section>
        <p14:section name="Basic slides" id="{D3120F04-6292-7743-BAA1-49B334691664}">
          <p14:sldIdLst>
            <p14:sldId id="262"/>
            <p14:sldId id="288"/>
            <p14:sldId id="289"/>
            <p14:sldId id="263"/>
            <p14:sldId id="264"/>
            <p14:sldId id="265"/>
            <p14:sldId id="266"/>
            <p14:sldId id="267"/>
            <p14:sldId id="268"/>
            <p14:sldId id="269"/>
          </p14:sldIdLst>
        </p14:section>
        <p14:section name="Slides with photos" id="{E56F723F-80B1-964E-97F9-92859EEE4ACA}">
          <p14:sldIdLst>
            <p14:sldId id="270"/>
            <p14:sldId id="271"/>
            <p14:sldId id="272"/>
            <p14:sldId id="273"/>
            <p14:sldId id="274"/>
            <p14:sldId id="292"/>
            <p14:sldId id="275"/>
            <p14:sldId id="291"/>
          </p14:sldIdLst>
        </p14:section>
        <p14:section name="Chapter" id="{02518A49-418B-8D42-B42E-5877408620A9}">
          <p14:sldIdLst>
            <p14:sldId id="276"/>
            <p14:sldId id="277"/>
          </p14:sldIdLst>
        </p14:section>
        <p14:section name="Contact" id="{F6674AEC-044C-8C4B-91EE-743F2C734E08}">
          <p14:sldIdLst>
            <p14:sldId id="279"/>
            <p14:sldId id="280"/>
          </p14:sldIdLst>
        </p14:section>
        <p14:section name="Additional systems" id="{4BA3E141-CA6D-3349-855D-3513418BA647}">
          <p14:sldIdLst>
            <p14:sldId id="283"/>
            <p14:sldId id="286"/>
            <p14:sldId id="284"/>
            <p14:sldId id="285"/>
          </p14:sldIdLst>
        </p14:section>
        <p14:section name="End cover" id="{BDD90832-9E3D-2741-ACCD-47E320043833}">
          <p14:sldIdLst>
            <p14:sldId id="281"/>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18D806-E6FF-8F50-3248-A5C31721EB4B}" name="Lukasz Jankowski" initials="LJ" userId="S::l.jankowski@tkhsecurity.com::8db01f9a-2cb7-4184-8075-6159447da6df" providerId="AD"/>
  <p188:author id="{92FFE837-73C3-6AC0-06CD-A1D070AF6CCC}" name="Tomasz Czyzkowski" initials="TC" userId="S::t.czyzkowski@tkhsecurity.com::cb391e26-0ec7-42b7-9d11-5fd467a61d0e" providerId="AD"/>
  <p188:author id="{0C85513B-BFFC-31EA-8110-F23643AA48B5}" name="James Blackhouse" initials="JB" userId="S::j.blackhouse@tkhsecurity.com::e9bee8b6-a9fd-46f1-a654-e9978a71fa20" providerId="AD"/>
  <p188:author id="{A7C98A5F-D624-C4C8-99CF-5D2436618900}" name="Michel Binnekade" initials="MB" userId="S::m.binnekade@tkhsecurity.com::025eaaf3-27f0-434a-beef-25af5024a4a8" providerId="AD"/>
  <p188:author id="{821F2196-9111-6A38-AA96-1131B7936930}" name="Maurice Moerkerk" initials="MM" userId="S::m.moerkerk@tkhsecurity.com::e5721b2c-9263-49ed-9592-4b00baa61d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Rodenhiser" initials="KR" lastIdx="1" clrIdx="0">
    <p:extLst>
      <p:ext uri="{19B8F6BF-5375-455C-9EA6-DF929625EA0E}">
        <p15:presenceInfo xmlns:p15="http://schemas.microsoft.com/office/powerpoint/2012/main" userId="b16a0975282699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E53"/>
    <a:srgbClr val="CCCC00"/>
    <a:srgbClr val="C5D800"/>
    <a:srgbClr val="000000"/>
    <a:srgbClr val="FFFFFF"/>
    <a:srgbClr val="BBBDC7"/>
    <a:srgbClr val="63666F"/>
    <a:srgbClr val="3C483A"/>
    <a:srgbClr val="3333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96327"/>
  </p:normalViewPr>
  <p:slideViewPr>
    <p:cSldViewPr snapToGrid="0">
      <p:cViewPr>
        <p:scale>
          <a:sx n="118" d="100"/>
          <a:sy n="118" d="100"/>
        </p:scale>
        <p:origin x="1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commentAuthors" Target="commentAuthor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DE0C97-FC84-4FA3-94B2-A2693F1DF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66CDB-08FD-4215-945B-F7E4727980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6A187C-FE9A-4CBF-8DC5-46EDAAA4812B}" type="datetimeFigureOut">
              <a:rPr lang="en-US" smtClean="0"/>
              <a:t>1/22/2025</a:t>
            </a:fld>
            <a:endParaRPr lang="en-US"/>
          </a:p>
        </p:txBody>
      </p:sp>
      <p:sp>
        <p:nvSpPr>
          <p:cNvPr id="4" name="Footer Placeholder 3">
            <a:extLst>
              <a:ext uri="{FF2B5EF4-FFF2-40B4-BE49-F238E27FC236}">
                <a16:creationId xmlns:a16="http://schemas.microsoft.com/office/drawing/2014/main" id="{42C9E8D8-AB29-4310-8001-F9AAE19A1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15E8FD-5003-4D3A-9435-D56C001B35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667EC5-5FFB-4456-A040-A0D3DA7290B4}" type="slidenum">
              <a:rPr lang="en-US" smtClean="0"/>
              <a:t>‹#›</a:t>
            </a:fld>
            <a:endParaRPr lang="en-US"/>
          </a:p>
        </p:txBody>
      </p:sp>
    </p:spTree>
    <p:extLst>
      <p:ext uri="{BB962C8B-B14F-4D97-AF65-F5344CB8AC3E}">
        <p14:creationId xmlns:p14="http://schemas.microsoft.com/office/powerpoint/2010/main" val="20119325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07F3D-707A-0642-BB43-33570534D262}" type="datetimeFigureOut">
              <a:rPr lang="nl-NL" smtClean="0"/>
              <a:t>22-1-2025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436E3-AA75-1C45-8244-94B7C1AF8735}" type="slidenum">
              <a:rPr lang="nl-NL" smtClean="0"/>
              <a:t>‹#›</a:t>
            </a:fld>
            <a:endParaRPr lang="nl-NL"/>
          </a:p>
        </p:txBody>
      </p:sp>
    </p:spTree>
    <p:extLst>
      <p:ext uri="{BB962C8B-B14F-4D97-AF65-F5344CB8AC3E}">
        <p14:creationId xmlns:p14="http://schemas.microsoft.com/office/powerpoint/2010/main" val="7279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introductions. Ninety minutes: about twenty of slides and seventy of live demos in VS Code, with GitHub Copilot's agent mode and the Claude Code extension. Questions are welcome at any time, in the chat or out loud. Everything is in the webinar repo. Set the frame: autocomplete is table stakes, and the interesting question now is how to get real work done with agents.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topics, matching the README agenda, and four demos on one codebase, Roombook, a small API for booking meeting rooms in Amsterdam and New York. Topics one and two lead into Demo 1 with Copilot, topic three into Demo 2 with Claude Code, topic four into Demo 3, and topics five and six into Demo 4. Each demo starts where the last one stopped.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generations of AI coding help, and all three are still useful. Autocomplete works inside the line or function you're writing. Chat answers questions, but you're the one who moves the code into place and runs it. An agent takes a goal and works toward it on its own: it reads the codebase, edits files, runs commands, and checks the results. The bottom row is the real shift: your role moves from typing to directing and reviewing.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coding agent runs some version of this loop. It gathers context, plans, acts by editing files and running commands, and verifies with tests and errors, then goes round again until the checks pass. The orange row is where you stay in the loop: the context you give it, the plan you review, the commands you approve, and the diff and tests you review at the end. Both tools today work this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changes is scope and autonomy. An agent can touch ten files and run your test suite in the time it takes to read one suggestion. What breaks is the old habit of glancing at a suggestion and pressing Tab. You now review more code, the agent will sound just as sure when it's missing context, and an agent that's told to make the tests pass may change the tests. The rest of the session is about handling those three.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use the Copilot harness, VS Code's default since 1.143, which replaces the older Local agent. Ask answers questions, Plan writes a plan you can comment on, and Agent makes changes. It finds the files it needs without being told, edits across the codebase, and runs commands once you allow them, then reads the output and iterates. You review its edits as one diff, and Restore Checkpoint throws away a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tests and the API, read create_booking. Ghost text for has_equipment, then a next edit suggestion for a rename that breaks a caller in another file. Agent role: GET /rooms/available with tests. Watch the context gathering, Allow on uv run pytest, and the iteration if the new route returns 422. Review the changes as one diff, restore a checkpoint, and run the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use Anthropic's Claude Code extension for VS Code. Claude works through tools: it searches and reads to build its own picture of the code, and CLAUDE.md gives every session the project facts it can't infer. Edits and commands are tool calls too, and each one goes through a permission check you control. Plan mode separates thinking from doing, and rewind takes the code back to any earlier message.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modes we'll use, picked from the indicator under the prompt box. There's a fourth, Auto, where a classifier decides which actions are safe, and recent versions start in it by default; set claudeCode.initialPermissionMode to manual to change that. Separate from the modes are allow and deny rules for specific commands. Don't ask again saves a rule just for you or for the whole team, in settings.local.json or settings.json. Demo 2 shows both.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trimmed version of the CLAUDE.md we'll build in Demo 2. Everything in it is loaded into every session, so it earns its place: the exact commands, the one convention that trips people up, and rules the code can't tell the agent. /init writes a good first draft, and then you edit it like a teammate's document. Generic advice like 'write clean code' costs context and changes nothing.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Manual. Read .claude/settings.json: the claudeMdExcludes patterns and the README deny. Trace POST /bookings, then /context. Send a subagent to survey the bookings table and run /context again: only its summary landed. /init, trim, add the rules. Coverage of policies.py: 71 percent. Generate tests, don't ask again for this project, Edit automatically, coverage near 100. Rewind, then settings.local.json.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high-leverage tasks. For a refactor, the plan is where you catch an agent that wants to tidy up behavior while it moves code, and unchanged tests passing is the proof. For tests of existing code, expected values come from running it; for new behavior, from the spec. Never from the agent's own arithmetic, which writes tests that agree with its mistakes. Coverage tells you what's missing, not what's safe.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are eager to fix things, so slow them down. A failing test proves the bug and stays as a guard. Asking for the root cause with evidence, before any fix, stops the patch-the-symptom reflex, and asking what else uses the code finds the other places with the same fault. For features, a short spec beats a long chat, and the plan is the cheapest place to change direction. Demo 4 builds a feature this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issue 42: an 8 pm New York booking shows on the next day. Claude in Manual: reproduce with a failing test, then the root cause, then what else uses day_bounds. Fix with tests for the room endpoint and the 25-hour day on 1 November. Review a wrong fix whose 48 tests pass. Then Copilot in Plan: extract the shared checks from bookings.py, read the Review Plan card for behavior changes, Implement Plan, tests unchanged and green.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the goal and why, the context to reuse, the constraints that rule out shortcuts, and a definition of done the agent can check itself. This is a condensed version of the spec in Demo 4. The 'done when' line matters most, because an agent stops when it thinks it's done, and this tells it what done means, including the edge case most implementations get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wait for the agent to finish. These three signals mean it has lost the thread, so stop it and say what you want instead. Reviewing is the part that doesn't change with agents: run the tests yourself, read the whole diff including the tests it wrote, and use a second agent as a reviewer with no stake in the first one's choices. Its findings are suggestions, and you decide.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a repo easy for a new teammate makes it easy for an agent: obvious commands and fast, reliable tests. Keep one short, reviewed AGENTS.md that every tool reads, and feed lessons back into it. Check in shared permissions and hooks: a hook runs every time where an instruction is only a request, and CI is the backstop for what hooks don't cover. Agent work goes through normal review. Two more: agents read a lot, so usage adds up; keep tasks scoped. And they read untrusted text, so keep approvals on, deny risky commands, and keep secrets 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settings.json: allow, deny, and both hooks. Ask Claude to loosen a test and watch the hook block it. Move CLAUDE.md into AGENTS.md. Both agents plan the spec side by side; compare context, the clock change, constraints, and tests. Comment, send the feedback, approve Claude's plan. Stop the build on purpose for a test-first redirect. Review: tests, criterion 1, the diff, and a second opinion from Copilot's Ask agent.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to demos/README.md for setup. Suggest a small, real task with a clear finish line, such as a bug with a reproducible test, rather than a big feature. The starter kit in docs/starter-kit has an AGENTS.md template, team settings with both hooks, and a spec template. The checklist follows the same order as the session. Mention the Xebia Academy link in the README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Leave this slide up while you answer any final questions, and repeat that the slides, demos, and checklist are in the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dirty="0"/>
              <a:t>Title of the</a:t>
            </a:r>
            <a:br>
              <a:rPr lang="en-GB" dirty="0"/>
            </a:br>
            <a:r>
              <a:rPr lang="en-GB" dirty="0"/>
              <a:t>presentation</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08695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dirty="0"/>
              <a:t>Title of the</a:t>
            </a:r>
            <a:br>
              <a:rPr lang="en-GB" dirty="0"/>
            </a:br>
            <a:r>
              <a:rPr lang="en-GB" dirty="0"/>
              <a:t>presentation</a:t>
            </a:r>
            <a:endParaRPr lang="en-PL" dirty="0"/>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149049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81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73939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99433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61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631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6067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043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447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889887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dirty="0"/>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dirty="0"/>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dirty="0"/>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dirty="0"/>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116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dirty="0"/>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45601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2954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437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0552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74380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96420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77687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21024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398046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1657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dirty="0"/>
              <a:t>Title of contents</a:t>
            </a:r>
            <a:br>
              <a:rPr lang="en-GB" dirty="0"/>
            </a:br>
            <a:r>
              <a:rPr lang="en-GB" dirty="0"/>
              <a:t>max. 2 lines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dirty="0"/>
              <a:t>Chapter number</a:t>
            </a:r>
          </a:p>
        </p:txBody>
      </p:sp>
    </p:spTree>
    <p:extLst>
      <p:ext uri="{BB962C8B-B14F-4D97-AF65-F5344CB8AC3E}">
        <p14:creationId xmlns:p14="http://schemas.microsoft.com/office/powerpoint/2010/main" val="4150340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dirty="0"/>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8166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dirty="0"/>
              <a:t>Title of contents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2050367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dirty="0"/>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Tree>
    <p:extLst>
      <p:ext uri="{BB962C8B-B14F-4D97-AF65-F5344CB8AC3E}">
        <p14:creationId xmlns:p14="http://schemas.microsoft.com/office/powerpoint/2010/main" val="2536079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dirty="0"/>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987611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tx2"/>
                </a:solidFill>
              </a:rPr>
              <a:t>xebia.com</a:t>
            </a:r>
            <a:endParaRPr lang="en-GB" sz="1800" dirty="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67767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accent3"/>
                </a:solidFill>
              </a:rPr>
              <a:t>xebia.com</a:t>
            </a:r>
            <a:endParaRPr lang="en-GB" sz="1800" dirty="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9962894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dirty="0"/>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dirty="0"/>
          </a:p>
        </p:txBody>
      </p:sp>
    </p:spTree>
    <p:extLst>
      <p:ext uri="{BB962C8B-B14F-4D97-AF65-F5344CB8AC3E}">
        <p14:creationId xmlns:p14="http://schemas.microsoft.com/office/powerpoint/2010/main" val="4111661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99" r:id="rId8"/>
    <p:sldLayoutId id="2147483704"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705" r:id="rId25"/>
    <p:sldLayoutId id="2147483700" r:id="rId26"/>
    <p:sldLayoutId id="2147483701" r:id="rId27"/>
    <p:sldLayoutId id="2147483702" r:id="rId28"/>
    <p:sldLayoutId id="2147483703" r:id="rId29"/>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6" userDrawn="1">
          <p15:clr>
            <a:srgbClr val="F26B43"/>
          </p15:clr>
        </p15:guide>
        <p15:guide id="6"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Real Work with Copilot Agent Mode and Claude Code</a:t>
            </a:r>
          </a:p>
          <a:p>
            <a:r>
              <a:rPr sz="1600"/>
              <a:t>Eric Greene · Xebia</a:t>
            </a:r>
          </a:p>
          <a:p>
            <a:r>
              <a:rPr sz="1600"/>
              <a:t>eric.greene@xebia.com</a:t>
            </a:r>
          </a:p>
        </p:txBody>
      </p:sp>
      <p:sp>
        <p:nvSpPr>
          <p:cNvPr id="3" name="Title 2"/>
          <p:cNvSpPr>
            <a:spLocks noGrp="1"/>
          </p:cNvSpPr>
          <p:nvPr>
            <p:ph type="title"/>
          </p:nvPr>
        </p:nvSpPr>
        <p:spPr/>
        <p:txBody>
          <a:bodyPr/>
          <a:lstStyle/>
          <a:p>
            <a:r>
              <a:t>Agentic Coding</a:t>
            </a:r>
          </a:p>
          <a:p>
            <a:r>
              <a:t>Beyond Autocomplete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2000"/>
              <a:t>From inline suggestions to autonomous agents</a:t>
            </a:r>
          </a:p>
          <a:p>
            <a:r>
              <a:rPr sz="2000"/>
              <a:t>How Copilot agent mode works</a:t>
            </a:r>
          </a:p>
          <a:p>
            <a:r>
              <a:rPr sz="2000"/>
              <a:t>How Claude Code works</a:t>
            </a:r>
          </a:p>
          <a:p>
            <a:r>
              <a:rPr sz="2000"/>
              <a:t>Patterns: refactors, tests, debugging, and new features</a:t>
            </a:r>
          </a:p>
          <a:p>
            <a:r>
              <a:rPr sz="2000"/>
              <a:t>Keeping agents on track: prompts, intervention, and review</a:t>
            </a:r>
          </a:p>
          <a:p>
            <a:r>
              <a:rPr sz="2000"/>
              <a:t>Team adoption: repo hygiene, context, and workflow</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suggestions to agents</a:t>
            </a:r>
          </a:p>
        </p:txBody>
      </p:sp>
      <p:sp>
        <p:nvSpPr>
          <p:cNvPr id="3" name="Content Placeholder 2"/>
          <p:cNvSpPr>
            <a:spLocks noGrp="1"/>
          </p:cNvSpPr>
          <p:nvPr>
            <p:ph idx="1"/>
          </p:nvPr>
        </p:nvSpPr>
        <p:spPr/>
        <p:txBody>
          <a:bodyPr/>
          <a:lstStyle/>
          <a:p>
            <a:r>
              <a:rPr sz="1600"/>
              <a:t>Finishes the line you're typing</a:t>
            </a:r>
          </a:p>
          <a:p>
            <a:r>
              <a:rPr sz="1600"/>
              <a:t>You drive every keystroke</a:t>
            </a:r>
          </a:p>
        </p:txBody>
      </p:sp>
      <p:sp>
        <p:nvSpPr>
          <p:cNvPr id="4" name="Text Placeholder 3"/>
          <p:cNvSpPr>
            <a:spLocks noGrp="1"/>
          </p:cNvSpPr>
          <p:nvPr>
            <p:ph type="body" idx="11" sz="quarter"/>
          </p:nvPr>
        </p:nvSpPr>
        <p:spPr/>
        <p:txBody>
          <a:bodyPr/>
          <a:lstStyle/>
          <a:p>
            <a:r>
              <a:rPr sz="1600"/>
              <a:t>Autocomplete</a:t>
            </a:r>
          </a:p>
        </p:txBody>
      </p:sp>
      <p:sp>
        <p:nvSpPr>
          <p:cNvPr id="5" name="Content Placeholder 4"/>
          <p:cNvSpPr>
            <a:spLocks noGrp="1"/>
          </p:cNvSpPr>
          <p:nvPr>
            <p:ph idx="13"/>
          </p:nvPr>
        </p:nvSpPr>
        <p:spPr/>
        <p:txBody>
          <a:bodyPr/>
          <a:lstStyle/>
          <a:p>
            <a:r>
              <a:rPr sz="1600"/>
              <a:t>Plans, edits, runs, and iterates</a:t>
            </a:r>
          </a:p>
          <a:p>
            <a:r>
              <a:rPr sz="1600"/>
              <a:t>You set the goal and review</a:t>
            </a:r>
          </a:p>
        </p:txBody>
      </p:sp>
      <p:sp>
        <p:nvSpPr>
          <p:cNvPr id="6" name="Text Placeholder 5"/>
          <p:cNvSpPr>
            <a:spLocks noGrp="1"/>
          </p:cNvSpPr>
          <p:nvPr>
            <p:ph type="body" idx="14" sz="quarter"/>
          </p:nvPr>
        </p:nvSpPr>
        <p:spPr/>
        <p:txBody>
          <a:bodyPr/>
          <a:lstStyle/>
          <a:p>
            <a:r>
              <a:rPr sz="1600"/>
              <a:t>Agent</a:t>
            </a:r>
          </a:p>
        </p:txBody>
      </p:sp>
      <p:sp>
        <p:nvSpPr>
          <p:cNvPr id="7" name="Content Placeholder 6"/>
          <p:cNvSpPr>
            <a:spLocks noGrp="1"/>
          </p:cNvSpPr>
          <p:nvPr>
            <p:ph idx="16"/>
          </p:nvPr>
        </p:nvSpPr>
        <p:spPr/>
        <p:txBody>
          <a:bodyPr/>
          <a:lstStyle/>
          <a:p>
            <a:r>
              <a:rPr sz="1600"/>
              <a:t>Answers questions, drafts code</a:t>
            </a:r>
          </a:p>
          <a:p>
            <a:r>
              <a:rPr sz="1600"/>
              <a:t>You copy, paste, and run it</a:t>
            </a:r>
          </a:p>
        </p:txBody>
      </p:sp>
      <p:sp>
        <p:nvSpPr>
          <p:cNvPr id="8" name="Text Placeholder 7"/>
          <p:cNvSpPr>
            <a:spLocks noGrp="1"/>
          </p:cNvSpPr>
          <p:nvPr>
            <p:ph type="body" idx="17" sz="quarter"/>
          </p:nvPr>
        </p:nvSpPr>
        <p:spPr/>
        <p:txBody>
          <a:bodyPr/>
          <a:lstStyle/>
          <a:p>
            <a:r>
              <a:rPr sz="1600"/>
              <a:t>Chat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agent loop</a:t>
            </a:r>
          </a:p>
        </p:txBody>
      </p:sp>
      <p:pic>
        <p:nvPicPr>
          <p:cNvPr id="4" name="Picture 3" descr="image.png"/>
          <p:cNvPicPr>
            <a:picLocks noChangeAspect="1"/>
          </p:cNvPicPr>
          <p:nvPr/>
        </p:nvPicPr>
        <p:blipFill>
          <a:blip r:embed="rId2"/>
          <a:srcRect t="27000" b="20000"/>
          <a:stretch>
            <a:fillRect/>
          </a:stretch>
        </p:blipFill>
        <p:spPr>
          <a:xfrm>
            <a:off x="557784" y="1691640"/>
            <a:ext cx="11064240" cy="3560314"/>
          </a:xfrm>
          <a:prstGeom prst="rect">
            <a:avLst/>
          </a:prstGeom>
        </p:spPr>
      </p:pic>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changes, and what breaks</a:t>
            </a:r>
          </a:p>
        </p:txBody>
      </p:sp>
      <p:sp>
        <p:nvSpPr>
          <p:cNvPr id="3" name="Content Placeholder 2"/>
          <p:cNvSpPr>
            <a:spLocks noGrp="1"/>
          </p:cNvSpPr>
          <p:nvPr>
            <p:ph idx="1"/>
          </p:nvPr>
        </p:nvSpPr>
        <p:spPr>
          <a:xfrm>
            <a:off x="554037" y="2596896"/>
            <a:ext cx="5349876" cy="3712463"/>
          </a:xfrm>
        </p:spPr>
        <p:txBody>
          <a:bodyPr/>
          <a:lstStyle/>
          <a:p>
            <a:r>
              <a:rPr sz="1600"/>
              <a:t>Scope grows from a line to a codebase</a:t>
            </a:r>
          </a:p>
          <a:p>
            <a:r>
              <a:rPr sz="1600"/>
              <a:t>The agent runs commands, not just you</a:t>
            </a:r>
          </a:p>
          <a:p>
            <a:r>
              <a:rPr sz="1600"/>
              <a:t>Your job shifts to direction and review</a:t>
            </a:r>
          </a:p>
        </p:txBody>
      </p:sp>
      <p:sp>
        <p:nvSpPr>
          <p:cNvPr id="4" name="Text Placeholder 3"/>
          <p:cNvSpPr>
            <a:spLocks noGrp="1"/>
          </p:cNvSpPr>
          <p:nvPr>
            <p:ph type="body" idx="11" sz="quarter"/>
          </p:nvPr>
        </p:nvSpPr>
        <p:spPr>
          <a:xfrm>
            <a:off x="554037" y="1975104"/>
            <a:ext cx="5349876" cy="444507"/>
          </a:xfrm>
        </p:spPr>
        <p:txBody>
          <a:bodyPr/>
          <a:lstStyle/>
          <a:p>
            <a:r>
              <a:rPr sz="1600"/>
              <a:t>What changes</a:t>
            </a:r>
          </a:p>
        </p:txBody>
      </p:sp>
      <p:sp>
        <p:nvSpPr>
          <p:cNvPr id="6" name="Content Placeholder 5"/>
          <p:cNvSpPr>
            <a:spLocks noGrp="1"/>
          </p:cNvSpPr>
          <p:nvPr>
            <p:ph idx="13"/>
          </p:nvPr>
        </p:nvSpPr>
        <p:spPr>
          <a:xfrm>
            <a:off x="6291261" y="2596896"/>
            <a:ext cx="5349876" cy="3712463"/>
          </a:xfrm>
        </p:spPr>
        <p:txBody>
          <a:bodyPr/>
          <a:lstStyle/>
          <a:p>
            <a:r>
              <a:rPr sz="1600"/>
              <a:t>Review load grows with every file touched</a:t>
            </a:r>
          </a:p>
          <a:p>
            <a:r>
              <a:rPr sz="1600"/>
              <a:t>Confident changes built on missing context</a:t>
            </a:r>
          </a:p>
          <a:p>
            <a:r>
              <a:rPr sz="1600"/>
              <a:t>Tests quietly edited until they pass</a:t>
            </a:r>
          </a:p>
        </p:txBody>
      </p:sp>
      <p:sp>
        <p:nvSpPr>
          <p:cNvPr id="7" name="Text Placeholder 6"/>
          <p:cNvSpPr>
            <a:spLocks noGrp="1"/>
          </p:cNvSpPr>
          <p:nvPr>
            <p:ph type="body" idx="14" sz="quarter"/>
          </p:nvPr>
        </p:nvSpPr>
        <p:spPr>
          <a:xfrm>
            <a:off x="6291261" y="1975104"/>
            <a:ext cx="5349876" cy="444507"/>
          </a:xfrm>
        </p:spPr>
        <p:txBody>
          <a:bodyPr/>
          <a:lstStyle/>
          <a:p>
            <a:r>
              <a:rPr sz="1600"/>
              <a:t>What breaks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Copilot agent mode works</a:t>
            </a:r>
          </a:p>
        </p:txBody>
      </p:sp>
      <p:sp>
        <p:nvSpPr>
          <p:cNvPr id="3" name="Content Placeholder 2"/>
          <p:cNvSpPr>
            <a:spLocks noGrp="1"/>
          </p:cNvSpPr>
          <p:nvPr>
            <p:ph idx="1"/>
          </p:nvPr>
        </p:nvSpPr>
        <p:spPr/>
        <p:txBody>
          <a:bodyPr/>
          <a:lstStyle/>
          <a:p>
            <a:r>
              <a:rPr sz="2000"/>
              <a:t>Ask, Plan, and Agent, in the Copilot harness</a:t>
            </a:r>
          </a:p>
          <a:p>
            <a:r>
              <a:rPr sz="2000"/>
              <a:t>Searches the workspace and reads files itself</a:t>
            </a:r>
          </a:p>
          <a:p>
            <a:r>
              <a:rPr sz="2000"/>
              <a:t>Edits several files, reviewed as one diff</a:t>
            </a:r>
          </a:p>
          <a:p>
            <a:r>
              <a:rPr sz="2000"/>
              <a:t>Runs commands after you select Allow</a:t>
            </a:r>
          </a:p>
          <a:p>
            <a:r>
              <a:rPr sz="2000"/>
              <a:t>Reads test output and errors, then tries again</a:t>
            </a:r>
          </a:p>
          <a:p>
            <a:r>
              <a:rPr sz="2000"/>
              <a:t>Checkpoints roll the workspace back to any request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1: From autocomplete to agent</a:t>
            </a:r>
          </a:p>
        </p:txBody>
      </p:sp>
      <p:sp>
        <p:nvSpPr>
          <p:cNvPr id="3" name="Content Placeholder 2"/>
          <p:cNvSpPr>
            <a:spLocks noGrp="1"/>
          </p:cNvSpPr>
          <p:nvPr>
            <p:ph idx="1"/>
          </p:nvPr>
        </p:nvSpPr>
        <p:spPr/>
        <p:txBody>
          <a:bodyPr/>
          <a:lstStyle/>
          <a:p>
            <a:r>
              <a:rPr sz="1600"/>
              <a:t>demos/01-copilot-agent-mode · about 17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Claude Code works</a:t>
            </a:r>
          </a:p>
        </p:txBody>
      </p:sp>
      <p:sp>
        <p:nvSpPr>
          <p:cNvPr id="3" name="Content Placeholder 2"/>
          <p:cNvSpPr>
            <a:spLocks noGrp="1"/>
          </p:cNvSpPr>
          <p:nvPr>
            <p:ph idx="1"/>
          </p:nvPr>
        </p:nvSpPr>
        <p:spPr/>
        <p:txBody>
          <a:bodyPr/>
          <a:lstStyle/>
          <a:p>
            <a:r>
              <a:rPr sz="2000"/>
              <a:t>Gathers context with search and read tools</a:t>
            </a:r>
          </a:p>
          <a:p>
            <a:r>
              <a:rPr sz="2000"/>
              <a:t>Loads CLAUDE.md into every session</a:t>
            </a:r>
          </a:p>
          <a:p>
            <a:r>
              <a:rPr sz="2000"/>
              <a:t>Edits files and runs commands as tool calls</a:t>
            </a:r>
          </a:p>
          <a:p>
            <a:r>
              <a:rPr sz="2000"/>
              <a:t>Every tool call passes a permission check</a:t>
            </a:r>
          </a:p>
          <a:p>
            <a:r>
              <a:rPr sz="2000"/>
              <a:t>Plan mode thinks before it changes anything</a:t>
            </a:r>
          </a:p>
          <a:p>
            <a:r>
              <a:rPr sz="2000"/>
              <a:t>Rewind undoes edits you don't want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Approvals and permission modes</a:t>
            </a:r>
          </a:p>
        </p:txBody>
      </p:sp>
      <p:sp>
        <p:nvSpPr>
          <p:cNvPr id="3" name="Content Placeholder 2"/>
          <p:cNvSpPr>
            <a:spLocks noGrp="1"/>
          </p:cNvSpPr>
          <p:nvPr>
            <p:ph idx="1"/>
          </p:nvPr>
        </p:nvSpPr>
        <p:spPr/>
        <p:txBody>
          <a:bodyPr/>
          <a:lstStyle/>
          <a:p>
            <a:r>
              <a:rPr sz="1600"/>
              <a:t>Edits and most commands ask</a:t>
            </a:r>
          </a:p>
          <a:p>
            <a:r>
              <a:rPr sz="1600"/>
              <a:t>For unfamiliar or risky work</a:t>
            </a:r>
          </a:p>
        </p:txBody>
      </p:sp>
      <p:sp>
        <p:nvSpPr>
          <p:cNvPr id="4" name="Text Placeholder 3"/>
          <p:cNvSpPr>
            <a:spLocks noGrp="1"/>
          </p:cNvSpPr>
          <p:nvPr>
            <p:ph type="body" idx="11" sz="quarter"/>
          </p:nvPr>
        </p:nvSpPr>
        <p:spPr/>
        <p:txBody>
          <a:bodyPr/>
          <a:lstStyle/>
          <a:p>
            <a:r>
              <a:rPr sz="1600"/>
              <a:t>Manual</a:t>
            </a:r>
          </a:p>
        </p:txBody>
      </p:sp>
      <p:sp>
        <p:nvSpPr>
          <p:cNvPr id="5" name="Content Placeholder 4"/>
          <p:cNvSpPr>
            <a:spLocks noGrp="1"/>
          </p:cNvSpPr>
          <p:nvPr>
            <p:ph idx="13"/>
          </p:nvPr>
        </p:nvSpPr>
        <p:spPr/>
        <p:txBody>
          <a:bodyPr/>
          <a:lstStyle/>
          <a:p>
            <a:r>
              <a:rPr sz="1600"/>
              <a:t>Reads and plans, changes nothing</a:t>
            </a:r>
          </a:p>
          <a:p>
            <a:r>
              <a:rPr sz="1600"/>
              <a:t>Before a change worth reviewing</a:t>
            </a:r>
          </a:p>
        </p:txBody>
      </p:sp>
      <p:sp>
        <p:nvSpPr>
          <p:cNvPr id="6" name="Text Placeholder 5"/>
          <p:cNvSpPr>
            <a:spLocks noGrp="1"/>
          </p:cNvSpPr>
          <p:nvPr>
            <p:ph type="body" idx="14" sz="quarter"/>
          </p:nvPr>
        </p:nvSpPr>
        <p:spPr/>
        <p:txBody>
          <a:bodyPr/>
          <a:lstStyle/>
          <a:p>
            <a:r>
              <a:rPr sz="1600"/>
              <a:t>Plan</a:t>
            </a:r>
          </a:p>
        </p:txBody>
      </p:sp>
      <p:sp>
        <p:nvSpPr>
          <p:cNvPr id="7" name="Content Placeholder 6"/>
          <p:cNvSpPr>
            <a:spLocks noGrp="1"/>
          </p:cNvSpPr>
          <p:nvPr>
            <p:ph idx="16"/>
          </p:nvPr>
        </p:nvSpPr>
        <p:spPr/>
        <p:txBody>
          <a:bodyPr/>
          <a:lstStyle/>
          <a:p>
            <a:r>
              <a:rPr sz="1600"/>
              <a:t>Edits flow, most commands ask</a:t>
            </a:r>
          </a:p>
          <a:p>
            <a:r>
              <a:rPr sz="1600"/>
              <a:t>When tests check every change</a:t>
            </a:r>
          </a:p>
        </p:txBody>
      </p:sp>
      <p:sp>
        <p:nvSpPr>
          <p:cNvPr id="8" name="Text Placeholder 7"/>
          <p:cNvSpPr>
            <a:spLocks noGrp="1"/>
          </p:cNvSpPr>
          <p:nvPr>
            <p:ph type="body" idx="17" sz="quarter"/>
          </p:nvPr>
        </p:nvSpPr>
        <p:spPr/>
        <p:txBody>
          <a:bodyPr/>
          <a:lstStyle/>
          <a:p>
            <a:r>
              <a:rPr sz="1600"/>
              <a:t>Edit automatically</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CLAUDE.md worth loading</a:t>
            </a:r>
          </a:p>
        </p:txBody>
      </p:sp>
      <p:sp>
        <p:nvSpPr>
          <p:cNvPr id="3" name="Content Placeholder 2"/>
          <p:cNvSpPr>
            <a:spLocks noGrp="1"/>
          </p:cNvSpPr>
          <p:nvPr>
            <p:ph idx="1"/>
          </p:nvPr>
        </p:nvSpPr>
        <p:spPr/>
        <p:txBody>
          <a:bodyPr/>
          <a:lstStyle/>
          <a:p>
            <a:pPr marL="0" indent="0">
              <a:buNone/>
            </a:pPr>
            <a:r>
              <a:rPr sz="1800">
                <a:latin typeface="Consolas"/>
              </a:rPr>
              <a:t># Roombook</a:t>
            </a:r>
          </a:p>
          <a:p>
            <a:pPr marL="0" indent="0">
              <a:buNone/>
            </a:pPr>
            <a:r>
              <a:rPr sz="1800">
                <a:latin typeface="Consolas"/>
              </a:rPr>
              <a:t>## Commands</a:t>
            </a:r>
          </a:p>
          <a:p>
            <a:pPr marL="0" indent="0">
              <a:buNone/>
            </a:pPr>
            <a:r>
              <a:rPr sz="1800">
                <a:latin typeface="Consolas"/>
              </a:rPr>
              <a:t>- Run the tests: `uv run pytest`</a:t>
            </a:r>
          </a:p>
          <a:p>
            <a:pPr marL="0" indent="0">
              <a:buNone/>
            </a:pPr>
            <a:r>
              <a:rPr sz="1800">
                <a:latin typeface="Consolas"/>
              </a:rPr>
              <a:t>- Run the API: `uv run uvicorn roombook.main:app`</a:t>
            </a:r>
          </a:p>
          <a:p>
            <a:pPr marL="0" indent="0">
              <a:buNone/>
            </a:pPr>
            <a:r>
              <a:rPr sz="1800">
                <a:latin typeface="Consolas"/>
              </a:rPr>
              <a:t>## How it fits together</a:t>
            </a:r>
          </a:p>
          <a:p>
            <a:pPr marL="0" indent="0">
              <a:buNone/>
            </a:pPr>
            <a:r>
              <a:rPr sz="1800">
                <a:latin typeface="Consolas"/>
              </a:rPr>
              <a:t>- Times are stored in UTC, sent in office time</a:t>
            </a:r>
          </a:p>
          <a:p>
            <a:pPr marL="0" indent="0">
              <a:buNone/>
            </a:pPr>
            <a:r>
              <a:rPr sz="1800">
                <a:latin typeface="Consolas"/>
              </a:rPr>
              <a:t>- Every booking goes through policies.py</a:t>
            </a:r>
          </a:p>
          <a:p>
            <a:pPr marL="0" indent="0">
              <a:buNone/>
            </a:pPr>
            <a:r>
              <a:rPr sz="1800">
                <a:latin typeface="Consolas"/>
              </a:rPr>
              <a:t>## Rules</a:t>
            </a:r>
          </a:p>
          <a:p>
            <a:pPr marL="0" indent="0">
              <a:buNone/>
            </a:pPr>
            <a:r>
              <a:rPr sz="1800">
                <a:latin typeface="Consolas"/>
              </a:rPr>
              <a:t>- Don't edit a test to make code pass</a:t>
            </a:r>
          </a:p>
          <a:p>
            <a:pPr marL="0" indent="0">
              <a:buNone/>
            </a:pPr>
            <a:r>
              <a:rPr sz="1800">
                <a:latin typeface="Consolas"/>
              </a:rPr>
              <a:t>- Ask before adding a dependency</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2: Context, tools, and approvals</a:t>
            </a:r>
          </a:p>
        </p:txBody>
      </p:sp>
      <p:sp>
        <p:nvSpPr>
          <p:cNvPr id="3" name="Content Placeholder 2"/>
          <p:cNvSpPr>
            <a:spLocks noGrp="1"/>
          </p:cNvSpPr>
          <p:nvPr>
            <p:ph idx="1"/>
          </p:nvPr>
        </p:nvSpPr>
        <p:spPr/>
        <p:txBody>
          <a:bodyPr/>
          <a:lstStyle/>
          <a:p>
            <a:r>
              <a:rPr sz="1600"/>
              <a:t>demos/02-claude-code · about 17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Refactors and test generation</a:t>
            </a:r>
          </a:p>
        </p:txBody>
      </p:sp>
      <p:sp>
        <p:nvSpPr>
          <p:cNvPr id="3" name="Content Placeholder 2"/>
          <p:cNvSpPr>
            <a:spLocks noGrp="1"/>
          </p:cNvSpPr>
          <p:nvPr>
            <p:ph idx="1"/>
          </p:nvPr>
        </p:nvSpPr>
        <p:spPr>
          <a:xfrm>
            <a:off x="554037" y="2596896"/>
            <a:ext cx="5349876" cy="3712463"/>
          </a:xfrm>
        </p:spPr>
        <p:txBody>
          <a:bodyPr/>
          <a:lstStyle/>
          <a:p>
            <a:r>
              <a:rPr sz="1600"/>
              <a:t>Plan first, and read it for behavior changes</a:t>
            </a:r>
          </a:p>
          <a:p>
            <a:r>
              <a:rPr sz="1600"/>
              <a:t>Tests pass before and after, unchanged</a:t>
            </a:r>
          </a:p>
          <a:p>
            <a:r>
              <a:rPr sz="1600"/>
              <a:t>Structure or behavior, never both at once</a:t>
            </a:r>
          </a:p>
        </p:txBody>
      </p:sp>
      <p:sp>
        <p:nvSpPr>
          <p:cNvPr id="4" name="Text Placeholder 3"/>
          <p:cNvSpPr>
            <a:spLocks noGrp="1"/>
          </p:cNvSpPr>
          <p:nvPr>
            <p:ph type="body" idx="11" sz="quarter"/>
          </p:nvPr>
        </p:nvSpPr>
        <p:spPr>
          <a:xfrm>
            <a:off x="554037" y="1975104"/>
            <a:ext cx="5349876" cy="444507"/>
          </a:xfrm>
        </p:spPr>
        <p:txBody>
          <a:bodyPr/>
          <a:lstStyle/>
          <a:p>
            <a:r>
              <a:rPr sz="1600"/>
              <a:t>Refactors</a:t>
            </a:r>
          </a:p>
        </p:txBody>
      </p:sp>
      <p:sp>
        <p:nvSpPr>
          <p:cNvPr id="6" name="Content Placeholder 5"/>
          <p:cNvSpPr>
            <a:spLocks noGrp="1"/>
          </p:cNvSpPr>
          <p:nvPr>
            <p:ph idx="13"/>
          </p:nvPr>
        </p:nvSpPr>
        <p:spPr>
          <a:xfrm>
            <a:off x="6291261" y="2596896"/>
            <a:ext cx="5349876" cy="3712463"/>
          </a:xfrm>
        </p:spPr>
        <p:txBody>
          <a:bodyPr/>
          <a:lstStyle/>
          <a:p>
            <a:r>
              <a:rPr sz="1600"/>
              <a:t>Expected values from real runs or the spec</a:t>
            </a:r>
          </a:p>
          <a:p>
            <a:r>
              <a:rPr sz="1600"/>
              <a:t>Pin the edges: limits, boundaries, the clock</a:t>
            </a:r>
          </a:p>
          <a:p>
            <a:r>
              <a:rPr sz="1600"/>
              <a:t>Coverage finds gaps; it isn't the goal</a:t>
            </a:r>
          </a:p>
        </p:txBody>
      </p:sp>
      <p:sp>
        <p:nvSpPr>
          <p:cNvPr id="7" name="Text Placeholder 6"/>
          <p:cNvSpPr>
            <a:spLocks noGrp="1"/>
          </p:cNvSpPr>
          <p:nvPr>
            <p:ph type="body" idx="14" sz="quarter"/>
          </p:nvPr>
        </p:nvSpPr>
        <p:spPr>
          <a:xfrm>
            <a:off x="6291261" y="1975104"/>
            <a:ext cx="5349876" cy="444507"/>
          </a:xfrm>
        </p:spPr>
        <p:txBody>
          <a:bodyPr/>
          <a:lstStyle/>
          <a:p>
            <a:r>
              <a:rPr sz="1600"/>
              <a:t>Test generation</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Debugging and new features</a:t>
            </a:r>
          </a:p>
        </p:txBody>
      </p:sp>
      <p:sp>
        <p:nvSpPr>
          <p:cNvPr id="3" name="Content Placeholder 2"/>
          <p:cNvSpPr>
            <a:spLocks noGrp="1"/>
          </p:cNvSpPr>
          <p:nvPr>
            <p:ph idx="1"/>
          </p:nvPr>
        </p:nvSpPr>
        <p:spPr>
          <a:xfrm>
            <a:off x="554037" y="2596896"/>
            <a:ext cx="5349876" cy="3712463"/>
          </a:xfrm>
        </p:spPr>
        <p:txBody>
          <a:bodyPr/>
          <a:lstStyle/>
          <a:p>
            <a:r>
              <a:rPr sz="1600"/>
              <a:t>Reproduce with a failing test first</a:t>
            </a:r>
          </a:p>
          <a:p>
            <a:r>
              <a:rPr sz="1600"/>
              <a:t>Ask for the root cause and evidence</a:t>
            </a:r>
          </a:p>
          <a:p>
            <a:r>
              <a:rPr sz="1600"/>
              <a:t>Ask what else uses the faulty code</a:t>
            </a:r>
          </a:p>
        </p:txBody>
      </p:sp>
      <p:sp>
        <p:nvSpPr>
          <p:cNvPr id="4" name="Text Placeholder 3"/>
          <p:cNvSpPr>
            <a:spLocks noGrp="1"/>
          </p:cNvSpPr>
          <p:nvPr>
            <p:ph type="body" idx="11" sz="quarter"/>
          </p:nvPr>
        </p:nvSpPr>
        <p:spPr>
          <a:xfrm>
            <a:off x="554037" y="1975104"/>
            <a:ext cx="5349876" cy="444507"/>
          </a:xfrm>
        </p:spPr>
        <p:txBody>
          <a:bodyPr/>
          <a:lstStyle/>
          <a:p>
            <a:r>
              <a:rPr sz="1600"/>
              <a:t>Debugging sessions</a:t>
            </a:r>
          </a:p>
        </p:txBody>
      </p:sp>
      <p:sp>
        <p:nvSpPr>
          <p:cNvPr id="6" name="Content Placeholder 5"/>
          <p:cNvSpPr>
            <a:spLocks noGrp="1"/>
          </p:cNvSpPr>
          <p:nvPr>
            <p:ph idx="13"/>
          </p:nvPr>
        </p:nvSpPr>
        <p:spPr>
          <a:xfrm>
            <a:off x="6291261" y="2596896"/>
            <a:ext cx="5349876" cy="3712463"/>
          </a:xfrm>
        </p:spPr>
        <p:txBody>
          <a:bodyPr/>
          <a:lstStyle/>
          <a:p>
            <a:r>
              <a:rPr sz="1600"/>
              <a:t>Start from a short written spec</a:t>
            </a:r>
          </a:p>
          <a:p>
            <a:r>
              <a:rPr sz="1600"/>
              <a:t>Review the plan before any code</a:t>
            </a:r>
          </a:p>
          <a:p>
            <a:r>
              <a:rPr sz="1600"/>
              <a:t>Build in slices, with tests in each</a:t>
            </a:r>
          </a:p>
        </p:txBody>
      </p:sp>
      <p:sp>
        <p:nvSpPr>
          <p:cNvPr id="7" name="Text Placeholder 6"/>
          <p:cNvSpPr>
            <a:spLocks noGrp="1"/>
          </p:cNvSpPr>
          <p:nvPr>
            <p:ph type="body" idx="14" sz="quarter"/>
          </p:nvPr>
        </p:nvSpPr>
        <p:spPr>
          <a:xfrm>
            <a:off x="6291261" y="1975104"/>
            <a:ext cx="5349876" cy="444507"/>
          </a:xfrm>
        </p:spPr>
        <p:txBody>
          <a:bodyPr/>
          <a:lstStyle/>
          <a:p>
            <a:r>
              <a:rPr sz="1600"/>
              <a:t>New features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3: Debug and refactor with agents</a:t>
            </a:r>
          </a:p>
        </p:txBody>
      </p:sp>
      <p:sp>
        <p:nvSpPr>
          <p:cNvPr id="3" name="Content Placeholder 2"/>
          <p:cNvSpPr>
            <a:spLocks noGrp="1"/>
          </p:cNvSpPr>
          <p:nvPr>
            <p:ph idx="1"/>
          </p:nvPr>
        </p:nvSpPr>
        <p:spPr/>
        <p:txBody>
          <a:bodyPr/>
          <a:lstStyle/>
          <a:p>
            <a:r>
              <a:rPr sz="1600"/>
              <a:t>demos/03-debug-and-refactor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with structure</a:t>
            </a:r>
          </a:p>
        </p:txBody>
      </p:sp>
      <p:sp>
        <p:nvSpPr>
          <p:cNvPr id="3" name="Content Placeholder 2"/>
          <p:cNvSpPr>
            <a:spLocks noGrp="1"/>
          </p:cNvSpPr>
          <p:nvPr>
            <p:ph idx="1"/>
          </p:nvPr>
        </p:nvSpPr>
        <p:spPr/>
        <p:txBody>
          <a:bodyPr/>
          <a:lstStyle/>
          <a:p>
            <a:pPr marL="0" indent="0">
              <a:buNone/>
            </a:pPr>
            <a:r>
              <a:rPr sz="1800">
                <a:latin typeface="Consolas"/>
              </a:rPr>
              <a:t>Goal:        Weekly recurring bookings, so teams</a:t>
            </a:r>
          </a:p>
          <a:p>
            <a:pPr marL="0" indent="0">
              <a:buNone/>
            </a:pPr>
            <a:r>
              <a:rPr sz="1800">
                <a:latin typeface="Consolas"/>
              </a:rPr>
              <a:t>             stop booking the same room by hand.</a:t>
            </a:r>
          </a:p>
          <a:p>
            <a:pPr marL="0" indent="0">
              <a:buNone/>
            </a:pPr>
            <a:r>
              <a:rPr sz="1800">
                <a:latin typeface="Consolas"/>
              </a:rPr>
              <a:t>Context:     Reuse check_slot in roombook/slots.py.</a:t>
            </a:r>
          </a:p>
          <a:p>
            <a:pPr marL="0" indent="0">
              <a:buNone/>
            </a:pPr>
            <a:r>
              <a:rPr sz="1800">
                <a:latin typeface="Consolas"/>
              </a:rPr>
              <a:t>Constraints: No new dependencies.</a:t>
            </a:r>
          </a:p>
          <a:p>
            <a:pPr marL="0" indent="0">
              <a:buNone/>
            </a:pPr>
            <a:r>
              <a:rPr sz="1800">
                <a:latin typeface="Consolas"/>
              </a:rPr>
              <a:t>             Don't change the existing tests.</a:t>
            </a:r>
          </a:p>
          <a:p>
            <a:pPr marL="0" indent="0">
              <a:buNone/>
            </a:pPr>
            <a:r>
              <a:rPr sz="1800">
                <a:latin typeface="Consolas"/>
              </a:rPr>
              <a:t>Done when:   A weekly 10:00 booking stays at 10:00</a:t>
            </a:r>
          </a:p>
          <a:p>
            <a:pPr marL="0" indent="0">
              <a:buNone/>
            </a:pPr>
            <a:r>
              <a:rPr sz="1800">
                <a:latin typeface="Consolas"/>
              </a:rPr>
              <a:t>             after New York's clocks change,</a:t>
            </a:r>
          </a:p>
          <a:p>
            <a:pPr marL="0" indent="0">
              <a:buNone/>
            </a:pPr>
            <a:r>
              <a:rPr sz="1800">
                <a:latin typeface="Consolas"/>
              </a:rPr>
              <a:t>             and every test passes.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step in, how to review</a:t>
            </a:r>
          </a:p>
        </p:txBody>
      </p:sp>
      <p:sp>
        <p:nvSpPr>
          <p:cNvPr id="3" name="Content Placeholder 2"/>
          <p:cNvSpPr>
            <a:spLocks noGrp="1"/>
          </p:cNvSpPr>
          <p:nvPr>
            <p:ph idx="1"/>
          </p:nvPr>
        </p:nvSpPr>
        <p:spPr>
          <a:xfrm>
            <a:off x="554037" y="2596896"/>
            <a:ext cx="5349876" cy="3712463"/>
          </a:xfrm>
        </p:spPr>
        <p:txBody>
          <a:bodyPr/>
          <a:lstStyle/>
          <a:p>
            <a:r>
              <a:rPr sz="1600"/>
              <a:t>Edits a test to make it pass</a:t>
            </a:r>
          </a:p>
          <a:p>
            <a:r>
              <a:rPr sz="1600"/>
              <a:t>Adds a dependency or touches unrelated files</a:t>
            </a:r>
          </a:p>
          <a:p>
            <a:r>
              <a:rPr sz="1600"/>
              <a:t>Repeats the same failing step</a:t>
            </a:r>
          </a:p>
        </p:txBody>
      </p:sp>
      <p:sp>
        <p:nvSpPr>
          <p:cNvPr id="4" name="Text Placeholder 3"/>
          <p:cNvSpPr>
            <a:spLocks noGrp="1"/>
          </p:cNvSpPr>
          <p:nvPr>
            <p:ph type="body" idx="11" sz="quarter"/>
          </p:nvPr>
        </p:nvSpPr>
        <p:spPr>
          <a:xfrm>
            <a:off x="554037" y="1975104"/>
            <a:ext cx="5349876" cy="444507"/>
          </a:xfrm>
        </p:spPr>
        <p:txBody>
          <a:bodyPr/>
          <a:lstStyle/>
          <a:p>
            <a:r>
              <a:rPr sz="1600"/>
              <a:t>Step in when the agent</a:t>
            </a:r>
          </a:p>
        </p:txBody>
      </p:sp>
      <p:sp>
        <p:nvSpPr>
          <p:cNvPr id="6" name="Content Placeholder 5"/>
          <p:cNvSpPr>
            <a:spLocks noGrp="1"/>
          </p:cNvSpPr>
          <p:nvPr>
            <p:ph idx="13"/>
          </p:nvPr>
        </p:nvSpPr>
        <p:spPr>
          <a:xfrm>
            <a:off x="6291261" y="2596896"/>
            <a:ext cx="5349876" cy="3712463"/>
          </a:xfrm>
        </p:spPr>
        <p:txBody>
          <a:bodyPr/>
          <a:lstStyle/>
          <a:p>
            <a:r>
              <a:rPr sz="1600"/>
              <a:t>Running the tests yourself</a:t>
            </a:r>
          </a:p>
          <a:p>
            <a:r>
              <a:rPr sz="1600"/>
              <a:t>Reading every diff, tests included</a:t>
            </a:r>
          </a:p>
          <a:p>
            <a:r>
              <a:rPr sz="1600"/>
              <a:t>Asking a second agent, then deciding</a:t>
            </a:r>
          </a:p>
        </p:txBody>
      </p:sp>
      <p:sp>
        <p:nvSpPr>
          <p:cNvPr id="7" name="Text Placeholder 6"/>
          <p:cNvSpPr>
            <a:spLocks noGrp="1"/>
          </p:cNvSpPr>
          <p:nvPr>
            <p:ph type="body" idx="14" sz="quarter"/>
          </p:nvPr>
        </p:nvSpPr>
        <p:spPr>
          <a:xfrm>
            <a:off x="6291261" y="1975104"/>
            <a:ext cx="5349876" cy="444507"/>
          </a:xfrm>
        </p:spPr>
        <p:txBody>
          <a:bodyPr/>
          <a:lstStyle/>
          <a:p>
            <a:r>
              <a:rPr sz="1600"/>
              <a:t>Review the output by</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Fitting agents into a team</a:t>
            </a:r>
          </a:p>
        </p:txBody>
      </p:sp>
      <p:sp>
        <p:nvSpPr>
          <p:cNvPr id="3" name="Content Placeholder 2"/>
          <p:cNvSpPr>
            <a:spLocks noGrp="1"/>
          </p:cNvSpPr>
          <p:nvPr>
            <p:ph idx="1"/>
          </p:nvPr>
        </p:nvSpPr>
        <p:spPr/>
        <p:txBody>
          <a:bodyPr/>
          <a:lstStyle/>
          <a:p>
            <a:r>
              <a:rPr sz="1600"/>
              <a:t>Clear commands to test and run</a:t>
            </a:r>
          </a:p>
          <a:p>
            <a:r>
              <a:rPr sz="1600"/>
              <a:t>Fast tests an agent can trust</a:t>
            </a:r>
          </a:p>
        </p:txBody>
      </p:sp>
      <p:sp>
        <p:nvSpPr>
          <p:cNvPr id="4" name="Text Placeholder 3"/>
          <p:cNvSpPr>
            <a:spLocks noGrp="1"/>
          </p:cNvSpPr>
          <p:nvPr>
            <p:ph type="body" idx="11" sz="quarter"/>
          </p:nvPr>
        </p:nvSpPr>
        <p:spPr/>
        <p:txBody>
          <a:bodyPr/>
          <a:lstStyle/>
          <a:p>
            <a:r>
              <a:rPr sz="1600"/>
              <a:t>Repo hygiene</a:t>
            </a:r>
          </a:p>
        </p:txBody>
      </p:sp>
      <p:sp>
        <p:nvSpPr>
          <p:cNvPr id="5" name="Content Placeholder 4"/>
          <p:cNvSpPr>
            <a:spLocks noGrp="1"/>
          </p:cNvSpPr>
          <p:nvPr>
            <p:ph idx="13"/>
          </p:nvPr>
        </p:nvSpPr>
        <p:spPr/>
        <p:txBody>
          <a:bodyPr/>
          <a:lstStyle/>
          <a:p>
            <a:r>
              <a:rPr sz="1600"/>
              <a:t>Shared rules and hooks in git</a:t>
            </a:r>
          </a:p>
          <a:p>
            <a:r>
              <a:rPr sz="1600"/>
              <a:t>Same review for agent changes</a:t>
            </a:r>
          </a:p>
        </p:txBody>
      </p:sp>
      <p:sp>
        <p:nvSpPr>
          <p:cNvPr id="6" name="Text Placeholder 5"/>
          <p:cNvSpPr>
            <a:spLocks noGrp="1"/>
          </p:cNvSpPr>
          <p:nvPr>
            <p:ph type="body" idx="14" sz="quarter"/>
          </p:nvPr>
        </p:nvSpPr>
        <p:spPr/>
        <p:txBody>
          <a:bodyPr/>
          <a:lstStyle/>
          <a:p>
            <a:r>
              <a:rPr sz="1600"/>
              <a:t>Workflow fit</a:t>
            </a:r>
          </a:p>
        </p:txBody>
      </p:sp>
      <p:sp>
        <p:nvSpPr>
          <p:cNvPr id="7" name="Content Placeholder 6"/>
          <p:cNvSpPr>
            <a:spLocks noGrp="1"/>
          </p:cNvSpPr>
          <p:nvPr>
            <p:ph idx="16"/>
          </p:nvPr>
        </p:nvSpPr>
        <p:spPr/>
        <p:txBody>
          <a:bodyPr/>
          <a:lstStyle/>
          <a:p>
            <a:r>
              <a:rPr sz="1600"/>
              <a:t>One AGENTS.md for every tool</a:t>
            </a:r>
          </a:p>
          <a:p>
            <a:r>
              <a:rPr sz="1600"/>
              <a:t>Lessons learned go back into it</a:t>
            </a:r>
          </a:p>
        </p:txBody>
      </p:sp>
      <p:sp>
        <p:nvSpPr>
          <p:cNvPr id="8" name="Text Placeholder 7"/>
          <p:cNvSpPr>
            <a:spLocks noGrp="1"/>
          </p:cNvSpPr>
          <p:nvPr>
            <p:ph type="body" idx="17" sz="quarter"/>
          </p:nvPr>
        </p:nvSpPr>
        <p:spPr/>
        <p:txBody>
          <a:bodyPr/>
          <a:lstStyle/>
          <a:p>
            <a:r>
              <a:rPr sz="1600"/>
              <a:t>Context quality</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4: Ship a feature, keep it on track</a:t>
            </a:r>
          </a:p>
        </p:txBody>
      </p:sp>
      <p:sp>
        <p:nvSpPr>
          <p:cNvPr id="3" name="Content Placeholder 2"/>
          <p:cNvSpPr>
            <a:spLocks noGrp="1"/>
          </p:cNvSpPr>
          <p:nvPr>
            <p:ph idx="1"/>
          </p:nvPr>
        </p:nvSpPr>
        <p:spPr/>
        <p:txBody>
          <a:bodyPr/>
          <a:lstStyle/>
          <a:p>
            <a:r>
              <a:rPr sz="1600"/>
              <a:t>demos/04-team-feature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sz="2000"/>
              <a:t>Clone the repo and run the four demos</a:t>
            </a:r>
          </a:p>
          <a:p>
            <a:r>
              <a:rPr sz="2000"/>
              <a:t>Try one real task in each tool this week</a:t>
            </a:r>
          </a:p>
          <a:p>
            <a:r>
              <a:rPr sz="2000"/>
              <a:t>Write a short AGENTS.md for one of your repos</a:t>
            </a:r>
          </a:p>
          <a:p>
            <a:r>
              <a:rPr sz="2000"/>
              <a:t>Check in shared permissions and a formatting hook</a:t>
            </a:r>
          </a:p>
          <a:p>
            <a:r>
              <a:rPr sz="2000"/>
              <a:t>Start from the repo's starter kit and checklist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Eric Greene · Xebia</a:t>
            </a:r>
          </a:p>
          <a:p>
            <a:r>
              <a:rPr sz="1600"/>
              <a:t>eric.greene@xebia.com</a:t>
            </a:r>
          </a:p>
        </p:txBody>
      </p:sp>
      <p:sp>
        <p:nvSpPr>
          <p:cNvPr id="3" name="Title 2"/>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429cfea-3f0d-4981-afe7-a053f7e299d1" xsi:nil="true"/>
    <lcf76f155ced4ddcb4097134ff3c332f xmlns="0e9c8240-0719-4f83-aadb-247aaf4e8de8">
      <Terms xmlns="http://schemas.microsoft.com/office/infopath/2007/PartnerControls"/>
    </lcf76f155ced4ddcb4097134ff3c332f>
    <SharedWithUsers xmlns="5429cfea-3f0d-4981-afe7-a053f7e299d1">
      <UserInfo>
        <DisplayName>Mark van Holsteijn</DisplayName>
        <AccountId>176</AccountId>
        <AccountType/>
      </UserInfo>
      <UserInfo>
        <DisplayName>Helen George</DisplayName>
        <AccountId>100</AccountId>
        <AccountType/>
      </UserInfo>
      <UserInfo>
        <DisplayName>SharingLinks.63f329ba-d967-4e2d-9e73-8049d22482e0.Flexible.425a05da-91c8-4f83-93c3-8c09d042b607</DisplayName>
        <AccountId>34</AccountId>
        <AccountType/>
      </UserInfo>
      <UserInfo>
        <DisplayName>Vivian Andringa</DisplayName>
        <AccountId>120</AccountId>
        <AccountType/>
      </UserInfo>
      <UserInfo>
        <DisplayName>Keith Landis</DisplayName>
        <AccountId>70</AccountId>
        <AccountType/>
      </UserInfo>
      <UserInfo>
        <DisplayName>Maureen Elsberry</DisplayName>
        <AccountId>44</AccountId>
        <AccountType/>
      </UserInfo>
      <UserInfo>
        <DisplayName>Israel Barriga</DisplayName>
        <AccountId>89</AccountId>
        <AccountType/>
      </UserInfo>
      <UserInfo>
        <DisplayName>Vivian Andringa</DisplayName>
        <AccountId>112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E81B3CF7ADF648A6EB7541842D17A0" ma:contentTypeVersion="15" ma:contentTypeDescription="Een nieuw document maken." ma:contentTypeScope="" ma:versionID="81c1c1ccc732741dd2d37df4029929c0">
  <xsd:schema xmlns:xsd="http://www.w3.org/2001/XMLSchema" xmlns:xs="http://www.w3.org/2001/XMLSchema" xmlns:p="http://schemas.microsoft.com/office/2006/metadata/properties" xmlns:ns2="0e9c8240-0719-4f83-aadb-247aaf4e8de8" xmlns:ns3="5429cfea-3f0d-4981-afe7-a053f7e299d1" targetNamespace="http://schemas.microsoft.com/office/2006/metadata/properties" ma:root="true" ma:fieldsID="f3ae7d64ef20f0e43788b5c1083d35e7" ns2:_="" ns3:_="">
    <xsd:import namespace="0e9c8240-0719-4f83-aadb-247aaf4e8de8"/>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9c8240-0719-4f83-aadb-247aaf4e8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7BF0F8-7136-465C-A2E0-57A9192CF1F1}">
  <ds:schemaRefs>
    <ds:schemaRef ds:uri="http://schemas.microsoft.com/sharepoint/v3/contenttype/forms"/>
  </ds:schemaRefs>
</ds:datastoreItem>
</file>

<file path=customXml/itemProps2.xml><?xml version="1.0" encoding="utf-8"?>
<ds:datastoreItem xmlns:ds="http://schemas.openxmlformats.org/officeDocument/2006/customXml" ds:itemID="{B1A13215-7381-4E66-93E2-484FCC1A2A68}">
  <ds:schemaRef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5429cfea-3f0d-4981-afe7-a053f7e299d1"/>
    <ds:schemaRef ds:uri="http://purl.org/dc/dcmitype/"/>
    <ds:schemaRef ds:uri="http://schemas.microsoft.com/office/infopath/2007/PartnerControls"/>
    <ds:schemaRef ds:uri="http://purl.org/dc/terms/"/>
    <ds:schemaRef ds:uri="0e9c8240-0719-4f83-aadb-247aaf4e8de8"/>
    <ds:schemaRef ds:uri="http://www.w3.org/XML/1998/namespace"/>
  </ds:schemaRefs>
</ds:datastoreItem>
</file>

<file path=customXml/itemProps3.xml><?xml version="1.0" encoding="utf-8"?>
<ds:datastoreItem xmlns:ds="http://schemas.openxmlformats.org/officeDocument/2006/customXml" ds:itemID="{4A223097-69D6-45EB-AA94-D02C86426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9c8240-0719-4f83-aadb-247aaf4e8de8"/>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Xebia_General-Template</Template>
  <TotalTime>0</TotalTime>
  <Words>806</Words>
  <Application>Microsoft Office PowerPoint</Application>
  <PresentationFormat>Widescreen</PresentationFormat>
  <Paragraphs>117</Paragraphs>
  <Slides>37</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Custom Design</vt:lpstr>
      <vt:lpstr>PPT General Template</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Garron</dc:creator>
  <cp:lastModifiedBy>Martha Garron</cp:lastModifiedBy>
  <cp:revision>1</cp:revision>
  <cp:lastPrinted>2023-11-23T01:40:48Z</cp:lastPrinted>
  <dcterms:created xsi:type="dcterms:W3CDTF">2025-01-23T01:36:07Z</dcterms:created>
  <dcterms:modified xsi:type="dcterms:W3CDTF">2025-01-23T01:36:43Z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0x01010070E81B3CF7ADF648A6EB7541842D17A0</vt:lpwstr>
  </property>
  <property fmtid="{D5CDD505-2E9C-101B-9397-08002B2CF9AE}" pid="3" name="MediaServiceImageTags">
    <vt:lpwstr/>
  </property>
</Properties>
</file>